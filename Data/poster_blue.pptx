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8803600" cy="43192700"/>
  <p:notesSz cx="6858000" cy="9144000"/>
  <p:embeddedFontLst>
    <p:embeddedFont>
      <p:font typeface="Century Gothic" panose="020B0502020202020204" pitchFamily="34" charset="0"/>
      <p:regular r:id="rId3"/>
      <p:bold r:id="rId4"/>
      <p:italic r:id="rId5"/>
      <p:boldItalic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8EED"/>
    <a:srgbClr val="FFFFFF"/>
    <a:srgbClr val="2F70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7" d="100"/>
          <a:sy n="27" d="100"/>
        </p:scale>
        <p:origin x="1334" y="-4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3638" y="4641532"/>
            <a:ext cx="25552724" cy="37228565"/>
            <a:chOff x="0" y="0"/>
            <a:chExt cx="2403849" cy="35022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3849" cy="3502243"/>
            </a:xfrm>
            <a:custGeom>
              <a:avLst/>
              <a:gdLst/>
              <a:ahLst/>
              <a:cxnLst/>
              <a:rect l="l" t="t" r="r" b="b"/>
              <a:pathLst>
                <a:path w="2403849" h="3502243">
                  <a:moveTo>
                    <a:pt x="43023" y="0"/>
                  </a:moveTo>
                  <a:lnTo>
                    <a:pt x="2360826" y="0"/>
                  </a:lnTo>
                  <a:cubicBezTo>
                    <a:pt x="2372236" y="0"/>
                    <a:pt x="2383179" y="4533"/>
                    <a:pt x="2391248" y="12601"/>
                  </a:cubicBezTo>
                  <a:cubicBezTo>
                    <a:pt x="2399316" y="20669"/>
                    <a:pt x="2403849" y="31613"/>
                    <a:pt x="2403849" y="43023"/>
                  </a:cubicBezTo>
                  <a:lnTo>
                    <a:pt x="2403849" y="3459220"/>
                  </a:lnTo>
                  <a:cubicBezTo>
                    <a:pt x="2403849" y="3470630"/>
                    <a:pt x="2399316" y="3481573"/>
                    <a:pt x="2391248" y="3489642"/>
                  </a:cubicBezTo>
                  <a:cubicBezTo>
                    <a:pt x="2383179" y="3497710"/>
                    <a:pt x="2372236" y="3502243"/>
                    <a:pt x="2360826" y="3502243"/>
                  </a:cubicBezTo>
                  <a:lnTo>
                    <a:pt x="43023" y="3502243"/>
                  </a:lnTo>
                  <a:cubicBezTo>
                    <a:pt x="31613" y="3502243"/>
                    <a:pt x="20669" y="3497710"/>
                    <a:pt x="12601" y="3489642"/>
                  </a:cubicBezTo>
                  <a:cubicBezTo>
                    <a:pt x="4533" y="3481573"/>
                    <a:pt x="0" y="3470630"/>
                    <a:pt x="0" y="3459220"/>
                  </a:cubicBezTo>
                  <a:lnTo>
                    <a:pt x="0" y="43023"/>
                  </a:lnTo>
                  <a:cubicBezTo>
                    <a:pt x="0" y="31613"/>
                    <a:pt x="4533" y="20669"/>
                    <a:pt x="12601" y="12601"/>
                  </a:cubicBezTo>
                  <a:cubicBezTo>
                    <a:pt x="20669" y="4533"/>
                    <a:pt x="31613" y="0"/>
                    <a:pt x="43023" y="0"/>
                  </a:cubicBezTo>
                  <a:close/>
                </a:path>
              </a:pathLst>
            </a:custGeom>
            <a:solidFill>
              <a:srgbClr val="C4DAFA"/>
            </a:solidFill>
          </p:spPr>
          <p:txBody>
            <a:bodyPr/>
            <a:lstStyle/>
            <a:p>
              <a:endParaRPr lang="en-US">
                <a:latin typeface="Century Gothic" panose="020B0502020202020204" pitchFamily="34" charset="0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2403849" cy="3607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559"/>
                </a:lnSpc>
                <a:spcBef>
                  <a:spcPct val="0"/>
                </a:spcBef>
              </a:pPr>
              <a:endParaRPr>
                <a:latin typeface="Century Gothic" panose="020B0502020202020204" pitchFamily="34" charset="0"/>
                <a:cs typeface="+mj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9880" y="138482"/>
            <a:ext cx="28543842" cy="6391870"/>
            <a:chOff x="58832" y="-65319"/>
            <a:chExt cx="2317922" cy="601309"/>
          </a:xfrm>
        </p:grpSpPr>
        <p:sp>
          <p:nvSpPr>
            <p:cNvPr id="7" name="Freeform 7"/>
            <p:cNvSpPr/>
            <p:nvPr/>
          </p:nvSpPr>
          <p:spPr>
            <a:xfrm>
              <a:off x="58832" y="0"/>
              <a:ext cx="2317922" cy="509650"/>
            </a:xfrm>
            <a:custGeom>
              <a:avLst/>
              <a:gdLst/>
              <a:ahLst/>
              <a:cxnLst/>
              <a:rect l="l" t="t" r="r" b="b"/>
              <a:pathLst>
                <a:path w="1915638" h="509650">
                  <a:moveTo>
                    <a:pt x="53988" y="0"/>
                  </a:moveTo>
                  <a:lnTo>
                    <a:pt x="1861651" y="0"/>
                  </a:lnTo>
                  <a:cubicBezTo>
                    <a:pt x="1891467" y="0"/>
                    <a:pt x="1915638" y="24171"/>
                    <a:pt x="1915638" y="53988"/>
                  </a:cubicBezTo>
                  <a:lnTo>
                    <a:pt x="1915638" y="455663"/>
                  </a:lnTo>
                  <a:cubicBezTo>
                    <a:pt x="1915638" y="469981"/>
                    <a:pt x="1909950" y="483713"/>
                    <a:pt x="1899826" y="493838"/>
                  </a:cubicBezTo>
                  <a:cubicBezTo>
                    <a:pt x="1889701" y="503962"/>
                    <a:pt x="1875969" y="509650"/>
                    <a:pt x="1861651" y="509650"/>
                  </a:cubicBezTo>
                  <a:lnTo>
                    <a:pt x="53988" y="509650"/>
                  </a:lnTo>
                  <a:cubicBezTo>
                    <a:pt x="39669" y="509650"/>
                    <a:pt x="25937" y="503962"/>
                    <a:pt x="15813" y="493838"/>
                  </a:cubicBezTo>
                  <a:cubicBezTo>
                    <a:pt x="5688" y="483713"/>
                    <a:pt x="0" y="469981"/>
                    <a:pt x="0" y="455663"/>
                  </a:cubicBezTo>
                  <a:lnTo>
                    <a:pt x="0" y="53988"/>
                  </a:lnTo>
                  <a:cubicBezTo>
                    <a:pt x="0" y="39669"/>
                    <a:pt x="5688" y="25937"/>
                    <a:pt x="15813" y="15813"/>
                  </a:cubicBezTo>
                  <a:cubicBezTo>
                    <a:pt x="25937" y="5688"/>
                    <a:pt x="39669" y="0"/>
                    <a:pt x="5398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latin typeface="Century Gothic" panose="020B0502020202020204" pitchFamily="34" charset="0"/>
                <a:cs typeface="+mj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943" y="-65319"/>
              <a:ext cx="1630310" cy="601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12599"/>
                </a:lnSpc>
              </a:pPr>
              <a:r>
                <a:rPr lang="en-US" sz="9000" b="1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 Bold"/>
                </a:rPr>
                <a:t>SmartBrace</a:t>
              </a:r>
              <a:r>
                <a:rPr lang="en-US" sz="9000" b="1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 Bold"/>
                </a:rPr>
                <a:t>: AI-Powered Health Monitoring App &amp;Bracelet &amp; </a:t>
              </a:r>
            </a:p>
            <a:p>
              <a:pPr>
                <a:lnSpc>
                  <a:spcPts val="12599"/>
                </a:lnSpc>
              </a:pPr>
              <a:r>
                <a:rPr lang="en-US" sz="9000" b="1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 Bold"/>
                </a:rPr>
                <a:t>Web Platform</a:t>
              </a:r>
            </a:p>
          </p:txBody>
        </p:sp>
      </p:grpSp>
      <p:sp>
        <p:nvSpPr>
          <p:cNvPr id="26" name="Freeform 26"/>
          <p:cNvSpPr/>
          <p:nvPr/>
        </p:nvSpPr>
        <p:spPr>
          <a:xfrm>
            <a:off x="3901381" y="1286301"/>
            <a:ext cx="2423219" cy="3142195"/>
          </a:xfrm>
          <a:custGeom>
            <a:avLst/>
            <a:gdLst/>
            <a:ahLst/>
            <a:cxnLst/>
            <a:rect l="l" t="t" r="r" b="b"/>
            <a:pathLst>
              <a:path w="4125418" h="3809850">
                <a:moveTo>
                  <a:pt x="0" y="0"/>
                </a:moveTo>
                <a:lnTo>
                  <a:pt x="4125418" y="0"/>
                </a:lnTo>
                <a:lnTo>
                  <a:pt x="4125418" y="3809849"/>
                </a:lnTo>
                <a:lnTo>
                  <a:pt x="0" y="3809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488" t="-9556" r="-63734" b="-11692"/>
            </a:stretch>
          </a:blipFill>
        </p:spPr>
        <p:txBody>
          <a:bodyPr/>
          <a:lstStyle/>
          <a:p>
            <a:endParaRPr lang="en-US">
              <a:latin typeface="Century Gothic" panose="020B0502020202020204" pitchFamily="34" charset="0"/>
              <a:cs typeface="+mj-cs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CE82C82-DE4A-BB84-359F-94A6257ED7C2}"/>
              </a:ext>
            </a:extLst>
          </p:cNvPr>
          <p:cNvGrpSpPr/>
          <p:nvPr/>
        </p:nvGrpSpPr>
        <p:grpSpPr>
          <a:xfrm>
            <a:off x="1023390" y="6074198"/>
            <a:ext cx="13110120" cy="34419752"/>
            <a:chOff x="1023390" y="5957571"/>
            <a:chExt cx="13110120" cy="34419752"/>
          </a:xfrm>
        </p:grpSpPr>
        <p:grpSp>
          <p:nvGrpSpPr>
            <p:cNvPr id="12" name="Group 12"/>
            <p:cNvGrpSpPr/>
            <p:nvPr/>
          </p:nvGrpSpPr>
          <p:grpSpPr>
            <a:xfrm>
              <a:off x="1173510" y="34169889"/>
              <a:ext cx="12960000" cy="6207434"/>
              <a:chOff x="0" y="0"/>
              <a:chExt cx="1219200" cy="58395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219200" cy="583959"/>
              </a:xfrm>
              <a:custGeom>
                <a:avLst/>
                <a:gdLst/>
                <a:ahLst/>
                <a:cxnLst/>
                <a:rect l="l" t="t" r="r" b="b"/>
                <a:pathLst>
                  <a:path w="1219200" h="583959">
                    <a:moveTo>
                      <a:pt x="84827" y="0"/>
                    </a:moveTo>
                    <a:lnTo>
                      <a:pt x="1134373" y="0"/>
                    </a:lnTo>
                    <a:cubicBezTo>
                      <a:pt x="1181222" y="0"/>
                      <a:pt x="1219200" y="37978"/>
                      <a:pt x="1219200" y="84827"/>
                    </a:cubicBezTo>
                    <a:lnTo>
                      <a:pt x="1219200" y="499132"/>
                    </a:lnTo>
                    <a:cubicBezTo>
                      <a:pt x="1219200" y="521629"/>
                      <a:pt x="1210263" y="543205"/>
                      <a:pt x="1194355" y="559113"/>
                    </a:cubicBezTo>
                    <a:cubicBezTo>
                      <a:pt x="1178447" y="575022"/>
                      <a:pt x="1156871" y="583959"/>
                      <a:pt x="1134373" y="583959"/>
                    </a:cubicBezTo>
                    <a:lnTo>
                      <a:pt x="84827" y="583959"/>
                    </a:lnTo>
                    <a:cubicBezTo>
                      <a:pt x="37978" y="583959"/>
                      <a:pt x="0" y="545980"/>
                      <a:pt x="0" y="499132"/>
                    </a:cubicBezTo>
                    <a:lnTo>
                      <a:pt x="0" y="84827"/>
                    </a:lnTo>
                    <a:cubicBezTo>
                      <a:pt x="0" y="37978"/>
                      <a:pt x="37978" y="0"/>
                      <a:pt x="848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Century Gothic" panose="020B0502020202020204" pitchFamily="34" charset="0"/>
                  <a:cs typeface="+mj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95250"/>
                <a:ext cx="1219200" cy="67920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5250"/>
                  </a:lnSpc>
                </a:pPr>
                <a:endParaRPr>
                  <a:latin typeface="Century Gothic" panose="020B0502020202020204" pitchFamily="34" charset="0"/>
                  <a:cs typeface="+mj-cs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764030" y="32480537"/>
              <a:ext cx="10086950" cy="2568707"/>
              <a:chOff x="47522" y="-76200"/>
              <a:chExt cx="948920" cy="24164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7522" y="0"/>
                <a:ext cx="948920" cy="165449"/>
              </a:xfrm>
              <a:custGeom>
                <a:avLst/>
                <a:gdLst/>
                <a:ahLst/>
                <a:cxnLst/>
                <a:rect l="l" t="t" r="r" b="b"/>
                <a:pathLst>
                  <a:path w="948920" h="165449">
                    <a:moveTo>
                      <a:pt x="50656" y="0"/>
                    </a:moveTo>
                    <a:lnTo>
                      <a:pt x="898263" y="0"/>
                    </a:lnTo>
                    <a:cubicBezTo>
                      <a:pt x="911698" y="0"/>
                      <a:pt x="924583" y="5337"/>
                      <a:pt x="934083" y="14837"/>
                    </a:cubicBezTo>
                    <a:cubicBezTo>
                      <a:pt x="943583" y="24337"/>
                      <a:pt x="948920" y="37221"/>
                      <a:pt x="948920" y="50656"/>
                    </a:cubicBezTo>
                    <a:lnTo>
                      <a:pt x="948920" y="114793"/>
                    </a:lnTo>
                    <a:cubicBezTo>
                      <a:pt x="948920" y="128227"/>
                      <a:pt x="943583" y="141112"/>
                      <a:pt x="934083" y="150612"/>
                    </a:cubicBezTo>
                    <a:cubicBezTo>
                      <a:pt x="924583" y="160112"/>
                      <a:pt x="911698" y="165449"/>
                      <a:pt x="898263" y="165449"/>
                    </a:cubicBezTo>
                    <a:lnTo>
                      <a:pt x="50656" y="165449"/>
                    </a:lnTo>
                    <a:cubicBezTo>
                      <a:pt x="37221" y="165449"/>
                      <a:pt x="24337" y="160112"/>
                      <a:pt x="14837" y="150612"/>
                    </a:cubicBezTo>
                    <a:cubicBezTo>
                      <a:pt x="5337" y="141112"/>
                      <a:pt x="0" y="128227"/>
                      <a:pt x="0" y="114793"/>
                    </a:cubicBezTo>
                    <a:lnTo>
                      <a:pt x="0" y="50656"/>
                    </a:lnTo>
                    <a:cubicBezTo>
                      <a:pt x="0" y="37221"/>
                      <a:pt x="5337" y="24337"/>
                      <a:pt x="14837" y="14837"/>
                    </a:cubicBezTo>
                    <a:cubicBezTo>
                      <a:pt x="24337" y="5337"/>
                      <a:pt x="37221" y="0"/>
                      <a:pt x="50656" y="0"/>
                    </a:cubicBezTo>
                    <a:close/>
                  </a:path>
                </a:pathLst>
              </a:custGeom>
              <a:solidFill>
                <a:srgbClr val="9BB1CF"/>
              </a:solidFill>
              <a:ln w="114300" cap="rnd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406E94">
                        <a:alpha val="100000"/>
                      </a:srgbClr>
                    </a:gs>
                  </a:gsLst>
                  <a:lin ang="0"/>
                </a:gra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Century Gothic" panose="020B0502020202020204" pitchFamily="34" charset="0"/>
                  <a:cs typeface="+mj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7522" y="-76200"/>
                <a:ext cx="948266" cy="2416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l">
                  <a:lnSpc>
                    <a:spcPts val="6299"/>
                  </a:lnSpc>
                  <a:spcBef>
                    <a:spcPct val="0"/>
                  </a:spcBef>
                </a:pPr>
                <a:endParaRPr lang="en-US" sz="4500" b="1" u="none" strike="noStrike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 Bold"/>
                </a:endParaRPr>
              </a:p>
              <a:p>
                <a:pPr marL="0" lvl="0" indent="0" algn="l">
                  <a:lnSpc>
                    <a:spcPts val="6299"/>
                  </a:lnSpc>
                  <a:spcBef>
                    <a:spcPct val="0"/>
                  </a:spcBef>
                </a:pPr>
                <a:r>
                  <a:rPr lang="en-US" sz="4500" b="1" u="none" strike="noStrike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        BLOCK DIGRAM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828801" y="33178750"/>
              <a:ext cx="1870493" cy="1870493"/>
              <a:chOff x="219516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219516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BB1CF"/>
              </a:solidFill>
              <a:ln w="114300" cap="rnd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406E94">
                        <a:alpha val="100000"/>
                      </a:srgbClr>
                    </a:gs>
                  </a:gsLst>
                  <a:lin ang="0"/>
                </a:gra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Century Gothic" panose="020B0502020202020204" pitchFamily="34" charset="0"/>
                  <a:cs typeface="+mj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95717" y="0"/>
                <a:ext cx="660400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6299"/>
                  </a:lnSpc>
                  <a:spcBef>
                    <a:spcPct val="0"/>
                  </a:spcBef>
                </a:pPr>
                <a:r>
                  <a:rPr lang="en-US" sz="4500" b="1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3</a:t>
                </a:r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1450987" y="35007030"/>
              <a:ext cx="11986331" cy="5273986"/>
            </a:xfrm>
            <a:custGeom>
              <a:avLst/>
              <a:gdLst/>
              <a:ahLst/>
              <a:cxnLst/>
              <a:rect l="l" t="t" r="r" b="b"/>
              <a:pathLst>
                <a:path w="11986331" h="5273986">
                  <a:moveTo>
                    <a:pt x="0" y="0"/>
                  </a:moveTo>
                  <a:lnTo>
                    <a:pt x="11986331" y="0"/>
                  </a:lnTo>
                  <a:lnTo>
                    <a:pt x="11986331" y="5273986"/>
                  </a:lnTo>
                  <a:lnTo>
                    <a:pt x="0" y="5273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Century Gothic" panose="020B0502020202020204" pitchFamily="34" charset="0"/>
                <a:cs typeface="+mj-cs"/>
              </a:endParaRP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1148800" y="6820395"/>
              <a:ext cx="12960000" cy="11145509"/>
              <a:chOff x="0" y="-77755"/>
              <a:chExt cx="1219200" cy="104850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219200" cy="953253"/>
              </a:xfrm>
              <a:custGeom>
                <a:avLst/>
                <a:gdLst/>
                <a:ahLst/>
                <a:cxnLst/>
                <a:rect l="l" t="t" r="r" b="b"/>
                <a:pathLst>
                  <a:path w="1219200" h="953253">
                    <a:moveTo>
                      <a:pt x="84827" y="0"/>
                    </a:moveTo>
                    <a:lnTo>
                      <a:pt x="1134373" y="0"/>
                    </a:lnTo>
                    <a:cubicBezTo>
                      <a:pt x="1181222" y="0"/>
                      <a:pt x="1219200" y="37978"/>
                      <a:pt x="1219200" y="84827"/>
                    </a:cubicBezTo>
                    <a:lnTo>
                      <a:pt x="1219200" y="868427"/>
                    </a:lnTo>
                    <a:cubicBezTo>
                      <a:pt x="1219200" y="915275"/>
                      <a:pt x="1181222" y="953253"/>
                      <a:pt x="1134373" y="953253"/>
                    </a:cubicBezTo>
                    <a:lnTo>
                      <a:pt x="84827" y="953253"/>
                    </a:lnTo>
                    <a:cubicBezTo>
                      <a:pt x="62329" y="953253"/>
                      <a:pt x="40753" y="944316"/>
                      <a:pt x="24845" y="928408"/>
                    </a:cubicBezTo>
                    <a:cubicBezTo>
                      <a:pt x="8937" y="912500"/>
                      <a:pt x="0" y="890924"/>
                      <a:pt x="0" y="868427"/>
                    </a:cubicBezTo>
                    <a:lnTo>
                      <a:pt x="0" y="84827"/>
                    </a:lnTo>
                    <a:cubicBezTo>
                      <a:pt x="0" y="37978"/>
                      <a:pt x="37978" y="0"/>
                      <a:pt x="848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Century Gothic" panose="020B0502020202020204" pitchFamily="34" charset="0"/>
                  <a:cs typeface="+mj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1844" y="-77755"/>
                <a:ext cx="1133235" cy="1048503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just">
                  <a:lnSpc>
                    <a:spcPts val="5250"/>
                  </a:lnSpc>
                </a:pPr>
                <a:endParaRPr lang="en-US" sz="3500" spc="17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"/>
                </a:endParaRPr>
              </a:p>
              <a:p>
                <a:pPr algn="just">
                  <a:lnSpc>
                    <a:spcPts val="5250"/>
                  </a:lnSpc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We offer a smart application to monitor children's health, using a bracelet attached to their wrist to measure vital signs and display them in real-time.</a:t>
                </a:r>
              </a:p>
              <a:p>
                <a:pPr algn="just">
                  <a:lnSpc>
                    <a:spcPts val="5250"/>
                  </a:lnSpc>
                </a:pPr>
                <a:endParaRPr lang="en-US" sz="3500" spc="17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"/>
                </a:endParaRPr>
              </a:p>
              <a:p>
                <a:pPr algn="just">
                  <a:lnSpc>
                    <a:spcPts val="5250"/>
                  </a:lnSpc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The application helps track the child's vaccinations, growth, and medication schedules, as well as record their medical history in case of any health problems.</a:t>
                </a:r>
              </a:p>
              <a:p>
                <a:pPr algn="just">
                  <a:lnSpc>
                    <a:spcPts val="5250"/>
                  </a:lnSpc>
                </a:pPr>
                <a:endParaRPr lang="en-US" sz="3500" spc="17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"/>
                </a:endParaRPr>
              </a:p>
              <a:p>
                <a:pPr algn="just">
                  <a:lnSpc>
                    <a:spcPts val="5250"/>
                  </a:lnSpc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It also allows easy booking of doctor appointments to follow up on medical conditions. The project aims to provide an integrated digital solution to support children's healthcare with precision and ease.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2638454" y="5957571"/>
              <a:ext cx="10086939" cy="2568707"/>
              <a:chOff x="38033" y="-76200"/>
              <a:chExt cx="948919" cy="241649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38033" y="0"/>
                <a:ext cx="948266" cy="165449"/>
              </a:xfrm>
              <a:custGeom>
                <a:avLst/>
                <a:gdLst/>
                <a:ahLst/>
                <a:cxnLst/>
                <a:rect l="l" t="t" r="r" b="b"/>
                <a:pathLst>
                  <a:path w="948920" h="165449">
                    <a:moveTo>
                      <a:pt x="50656" y="0"/>
                    </a:moveTo>
                    <a:lnTo>
                      <a:pt x="898263" y="0"/>
                    </a:lnTo>
                    <a:cubicBezTo>
                      <a:pt x="911698" y="0"/>
                      <a:pt x="924583" y="5337"/>
                      <a:pt x="934083" y="14837"/>
                    </a:cubicBezTo>
                    <a:cubicBezTo>
                      <a:pt x="943583" y="24337"/>
                      <a:pt x="948920" y="37221"/>
                      <a:pt x="948920" y="50656"/>
                    </a:cubicBezTo>
                    <a:lnTo>
                      <a:pt x="948920" y="114793"/>
                    </a:lnTo>
                    <a:cubicBezTo>
                      <a:pt x="948920" y="128227"/>
                      <a:pt x="943583" y="141112"/>
                      <a:pt x="934083" y="150612"/>
                    </a:cubicBezTo>
                    <a:cubicBezTo>
                      <a:pt x="924583" y="160112"/>
                      <a:pt x="911698" y="165449"/>
                      <a:pt x="898263" y="165449"/>
                    </a:cubicBezTo>
                    <a:lnTo>
                      <a:pt x="50656" y="165449"/>
                    </a:lnTo>
                    <a:cubicBezTo>
                      <a:pt x="37221" y="165449"/>
                      <a:pt x="24337" y="160112"/>
                      <a:pt x="14837" y="150612"/>
                    </a:cubicBezTo>
                    <a:cubicBezTo>
                      <a:pt x="5337" y="141112"/>
                      <a:pt x="0" y="128227"/>
                      <a:pt x="0" y="114793"/>
                    </a:cubicBezTo>
                    <a:lnTo>
                      <a:pt x="0" y="50656"/>
                    </a:lnTo>
                    <a:cubicBezTo>
                      <a:pt x="0" y="37221"/>
                      <a:pt x="5337" y="24337"/>
                      <a:pt x="14837" y="14837"/>
                    </a:cubicBezTo>
                    <a:cubicBezTo>
                      <a:pt x="24337" y="5337"/>
                      <a:pt x="37221" y="0"/>
                      <a:pt x="50656" y="0"/>
                    </a:cubicBezTo>
                    <a:close/>
                  </a:path>
                </a:pathLst>
              </a:custGeom>
              <a:solidFill>
                <a:srgbClr val="9BB1CF"/>
              </a:solidFill>
              <a:ln w="114300" cap="rnd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406E94">
                        <a:alpha val="100000"/>
                      </a:srgbClr>
                    </a:gs>
                  </a:gsLst>
                  <a:lin ang="0"/>
                </a:gradFill>
                <a:prstDash val="dash"/>
                <a:round/>
              </a:ln>
            </p:spPr>
            <p:txBody>
              <a:bodyPr/>
              <a:lstStyle/>
              <a:p>
                <a:endParaRPr lang="en-US" dirty="0">
                  <a:latin typeface="Century Gothic" panose="020B0502020202020204" pitchFamily="34" charset="0"/>
                  <a:cs typeface="+mj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8033" y="-76200"/>
                <a:ext cx="948919" cy="2416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l">
                  <a:lnSpc>
                    <a:spcPts val="6299"/>
                  </a:lnSpc>
                  <a:spcBef>
                    <a:spcPct val="0"/>
                  </a:spcBef>
                </a:pPr>
                <a:endParaRPr lang="en-US" sz="4500" b="1" u="none" strike="noStrike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 Bold"/>
                </a:endParaRPr>
              </a:p>
              <a:p>
                <a:pPr marL="0" lvl="0" indent="0" algn="l">
                  <a:lnSpc>
                    <a:spcPts val="6299"/>
                  </a:lnSpc>
                  <a:spcBef>
                    <a:spcPct val="0"/>
                  </a:spcBef>
                </a:pPr>
                <a:r>
                  <a:rPr lang="en-US" sz="4500" b="1" u="none" strike="noStrike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        INTRODUCTION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703210" y="6655785"/>
              <a:ext cx="1870493" cy="1870493"/>
              <a:chOff x="175679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75679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BB1CF"/>
              </a:solidFill>
              <a:ln w="114300" cap="rnd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406E94">
                        <a:alpha val="100000"/>
                      </a:srgbClr>
                    </a:gs>
                  </a:gsLst>
                  <a:lin ang="0"/>
                </a:gra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Century Gothic" panose="020B0502020202020204" pitchFamily="34" charset="0"/>
                  <a:cs typeface="+mj-cs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51880" y="0"/>
                <a:ext cx="660400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6299"/>
                  </a:lnSpc>
                  <a:spcBef>
                    <a:spcPct val="0"/>
                  </a:spcBef>
                </a:pPr>
                <a:r>
                  <a:rPr lang="en-US" sz="4500" b="1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1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023390" y="18450790"/>
              <a:ext cx="12960000" cy="13974927"/>
              <a:chOff x="0" y="-95250"/>
              <a:chExt cx="1219200" cy="1314678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219200" cy="1219428"/>
              </a:xfrm>
              <a:custGeom>
                <a:avLst/>
                <a:gdLst/>
                <a:ahLst/>
                <a:cxnLst/>
                <a:rect l="l" t="t" r="r" b="b"/>
                <a:pathLst>
                  <a:path w="1219200" h="1219428">
                    <a:moveTo>
                      <a:pt x="84827" y="0"/>
                    </a:moveTo>
                    <a:lnTo>
                      <a:pt x="1134373" y="0"/>
                    </a:lnTo>
                    <a:cubicBezTo>
                      <a:pt x="1181222" y="0"/>
                      <a:pt x="1219200" y="37978"/>
                      <a:pt x="1219200" y="84827"/>
                    </a:cubicBezTo>
                    <a:lnTo>
                      <a:pt x="1219200" y="1134602"/>
                    </a:lnTo>
                    <a:cubicBezTo>
                      <a:pt x="1219200" y="1181450"/>
                      <a:pt x="1181222" y="1219428"/>
                      <a:pt x="1134373" y="1219428"/>
                    </a:cubicBezTo>
                    <a:lnTo>
                      <a:pt x="84827" y="1219428"/>
                    </a:lnTo>
                    <a:cubicBezTo>
                      <a:pt x="62329" y="1219428"/>
                      <a:pt x="40753" y="1210491"/>
                      <a:pt x="24845" y="1194583"/>
                    </a:cubicBezTo>
                    <a:cubicBezTo>
                      <a:pt x="8937" y="1178675"/>
                      <a:pt x="0" y="1157099"/>
                      <a:pt x="0" y="1134602"/>
                    </a:cubicBezTo>
                    <a:lnTo>
                      <a:pt x="0" y="84827"/>
                    </a:lnTo>
                    <a:cubicBezTo>
                      <a:pt x="0" y="37978"/>
                      <a:pt x="37978" y="0"/>
                      <a:pt x="848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Century Gothic" panose="020B0502020202020204" pitchFamily="34" charset="0"/>
                  <a:cs typeface="+mj-cs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3202" y="-95250"/>
                <a:ext cx="1124627" cy="1314678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5250"/>
                  </a:lnSpc>
                </a:pPr>
                <a:endParaRPr dirty="0">
                  <a:latin typeface="Century Gothic" panose="020B0502020202020204" pitchFamily="34" charset="0"/>
                  <a:cs typeface="+mj-cs"/>
                </a:endParaRPr>
              </a:p>
              <a:p>
                <a:pPr algn="l">
                  <a:lnSpc>
                    <a:spcPts val="5250"/>
                  </a:lnSpc>
                </a:pPr>
                <a:endParaRPr lang="en-US" sz="3500" b="1" spc="17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 Bold"/>
                </a:endParaRPr>
              </a:p>
              <a:p>
                <a:pPr algn="l">
                  <a:lnSpc>
                    <a:spcPts val="5250"/>
                  </a:lnSpc>
                </a:pPr>
                <a:r>
                  <a:rPr lang="en-US" sz="3500" b="1" spc="17" dirty="0">
                    <a:solidFill>
                      <a:schemeClr val="accent1">
                        <a:lumMod val="75000"/>
                      </a:schemeClr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Machine Learning </a:t>
                </a:r>
              </a:p>
              <a:p>
                <a:pPr marL="755651" lvl="1" indent="-377825" algn="l">
                  <a:lnSpc>
                    <a:spcPts val="5250"/>
                  </a:lnSpc>
                  <a:buFont typeface="Arial"/>
                  <a:buChar char="•"/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Coded using Python .</a:t>
                </a:r>
              </a:p>
              <a:p>
                <a:pPr marL="755651" lvl="1" indent="-377825" algn="l">
                  <a:lnSpc>
                    <a:spcPts val="5250"/>
                  </a:lnSpc>
                  <a:buFont typeface="Arial"/>
                  <a:buChar char="•"/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Collecting data from Kaggle.</a:t>
                </a:r>
              </a:p>
              <a:p>
                <a:pPr algn="l">
                  <a:lnSpc>
                    <a:spcPts val="3000"/>
                  </a:lnSpc>
                </a:pPr>
                <a:endParaRPr lang="en-US" sz="3500" spc="17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"/>
                </a:endParaRPr>
              </a:p>
              <a:p>
                <a:pPr algn="l">
                  <a:lnSpc>
                    <a:spcPts val="5250"/>
                  </a:lnSpc>
                </a:pPr>
                <a:r>
                  <a:rPr lang="en-US" sz="3500" b="1" spc="17" dirty="0">
                    <a:solidFill>
                      <a:schemeClr val="accent1">
                        <a:lumMod val="75000"/>
                      </a:schemeClr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Front-End</a:t>
                </a:r>
              </a:p>
              <a:p>
                <a:pPr marL="755651" lvl="1" indent="-377825" algn="l">
                  <a:lnSpc>
                    <a:spcPts val="5250"/>
                  </a:lnSpc>
                  <a:buFont typeface="Arial"/>
                  <a:buChar char="•"/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Design the app on Figma.</a:t>
                </a:r>
              </a:p>
              <a:p>
                <a:pPr marL="755651" lvl="1" indent="-377825" algn="l">
                  <a:lnSpc>
                    <a:spcPts val="5250"/>
                  </a:lnSpc>
                  <a:buFont typeface="Arial"/>
                  <a:buChar char="•"/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Built the UI using Flutter.</a:t>
                </a:r>
              </a:p>
              <a:p>
                <a:pPr marL="755651" lvl="1" indent="-377825" algn="l">
                  <a:lnSpc>
                    <a:spcPts val="5250"/>
                  </a:lnSpc>
                  <a:buFont typeface="Arial"/>
                  <a:buChar char="•"/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Website made by React.</a:t>
                </a:r>
              </a:p>
              <a:p>
                <a:pPr algn="l">
                  <a:lnSpc>
                    <a:spcPts val="3000"/>
                  </a:lnSpc>
                </a:pPr>
                <a:endParaRPr lang="en-US" sz="3500" spc="17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"/>
                </a:endParaRPr>
              </a:p>
              <a:p>
                <a:pPr algn="l">
                  <a:lnSpc>
                    <a:spcPts val="5250"/>
                  </a:lnSpc>
                </a:pPr>
                <a:r>
                  <a:rPr lang="en-US" sz="3500" b="1" spc="17" dirty="0">
                    <a:solidFill>
                      <a:schemeClr val="accent1">
                        <a:lumMod val="75000"/>
                      </a:schemeClr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Back-End</a:t>
                </a:r>
              </a:p>
              <a:p>
                <a:pPr marL="755651" lvl="1" indent="-377825" algn="l">
                  <a:lnSpc>
                    <a:spcPts val="5250"/>
                  </a:lnSpc>
                  <a:buFont typeface="Arial"/>
                  <a:buChar char="•"/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Use Node.js and Express.js.</a:t>
                </a:r>
              </a:p>
              <a:p>
                <a:pPr marL="755651" lvl="1" indent="-377825" algn="l">
                  <a:lnSpc>
                    <a:spcPts val="5250"/>
                  </a:lnSpc>
                  <a:buFont typeface="Arial"/>
                  <a:buChar char="•"/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MongoDB manages data.</a:t>
                </a:r>
              </a:p>
              <a:p>
                <a:pPr marL="755651" lvl="1" indent="-377825" algn="l">
                  <a:lnSpc>
                    <a:spcPts val="5250"/>
                  </a:lnSpc>
                  <a:buFont typeface="Arial"/>
                  <a:buChar char="•"/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Transfer hardware data to server.</a:t>
                </a:r>
              </a:p>
              <a:p>
                <a:pPr algn="l">
                  <a:lnSpc>
                    <a:spcPts val="3000"/>
                  </a:lnSpc>
                </a:pPr>
                <a:endParaRPr lang="en-US" sz="3500" spc="17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"/>
                </a:endParaRPr>
              </a:p>
              <a:p>
                <a:pPr algn="l">
                  <a:lnSpc>
                    <a:spcPts val="5250"/>
                  </a:lnSpc>
                </a:pPr>
                <a:r>
                  <a:rPr lang="en-US" sz="3500" b="1" spc="17" dirty="0">
                    <a:solidFill>
                      <a:schemeClr val="accent1">
                        <a:lumMod val="75000"/>
                      </a:schemeClr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Hardware</a:t>
                </a:r>
              </a:p>
              <a:p>
                <a:pPr algn="l">
                  <a:lnSpc>
                    <a:spcPts val="5250"/>
                  </a:lnSpc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- Simulated by </a:t>
                </a:r>
                <a:r>
                  <a:rPr lang="en-US" sz="3500" spc="17" dirty="0" err="1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Protues</a:t>
                </a: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 .</a:t>
                </a:r>
              </a:p>
              <a:p>
                <a:pPr algn="l">
                  <a:lnSpc>
                    <a:spcPts val="5250"/>
                  </a:lnSpc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- Coded by Arduino ide .</a:t>
                </a:r>
              </a:p>
              <a:p>
                <a:pPr algn="l">
                  <a:lnSpc>
                    <a:spcPts val="5250"/>
                  </a:lnSpc>
                </a:pPr>
                <a:endParaRPr lang="en-US" sz="3500" spc="17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2721603" y="17773937"/>
              <a:ext cx="10080002" cy="2568707"/>
              <a:chOff x="57653" y="-76200"/>
              <a:chExt cx="948267" cy="241649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57653" y="0"/>
                <a:ext cx="948267" cy="165449"/>
              </a:xfrm>
              <a:custGeom>
                <a:avLst/>
                <a:gdLst/>
                <a:ahLst/>
                <a:cxnLst/>
                <a:rect l="l" t="t" r="r" b="b"/>
                <a:pathLst>
                  <a:path w="947336" h="165449">
                    <a:moveTo>
                      <a:pt x="50741" y="0"/>
                    </a:moveTo>
                    <a:lnTo>
                      <a:pt x="896595" y="0"/>
                    </a:lnTo>
                    <a:cubicBezTo>
                      <a:pt x="924618" y="0"/>
                      <a:pt x="947336" y="22717"/>
                      <a:pt x="947336" y="50741"/>
                    </a:cubicBezTo>
                    <a:lnTo>
                      <a:pt x="947336" y="114708"/>
                    </a:lnTo>
                    <a:cubicBezTo>
                      <a:pt x="947336" y="142731"/>
                      <a:pt x="924618" y="165449"/>
                      <a:pt x="896595" y="165449"/>
                    </a:cubicBezTo>
                    <a:lnTo>
                      <a:pt x="50741" y="165449"/>
                    </a:lnTo>
                    <a:cubicBezTo>
                      <a:pt x="22717" y="165449"/>
                      <a:pt x="0" y="142731"/>
                      <a:pt x="0" y="114708"/>
                    </a:cubicBezTo>
                    <a:lnTo>
                      <a:pt x="0" y="50741"/>
                    </a:lnTo>
                    <a:cubicBezTo>
                      <a:pt x="0" y="22717"/>
                      <a:pt x="22717" y="0"/>
                      <a:pt x="50741" y="0"/>
                    </a:cubicBezTo>
                    <a:close/>
                  </a:path>
                </a:pathLst>
              </a:custGeom>
              <a:solidFill>
                <a:srgbClr val="9BB1CF"/>
              </a:solidFill>
              <a:ln w="114300" cap="rnd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406E94">
                        <a:alpha val="100000"/>
                      </a:srgbClr>
                    </a:gs>
                  </a:gsLst>
                  <a:lin ang="0"/>
                </a:gradFill>
                <a:prstDash val="dash"/>
                <a:round/>
              </a:ln>
            </p:spPr>
            <p:txBody>
              <a:bodyPr/>
              <a:lstStyle/>
              <a:p>
                <a:endParaRPr lang="en-US" dirty="0">
                  <a:latin typeface="Century Gothic" panose="020B0502020202020204" pitchFamily="34" charset="0"/>
                  <a:cs typeface="+mj-cs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57653" y="-76200"/>
                <a:ext cx="947336" cy="2416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l">
                  <a:lnSpc>
                    <a:spcPts val="6299"/>
                  </a:lnSpc>
                  <a:spcBef>
                    <a:spcPct val="0"/>
                  </a:spcBef>
                </a:pPr>
                <a:endParaRPr lang="en-US" sz="4500" b="1" u="none" strike="noStrike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 Bold"/>
                </a:endParaRPr>
              </a:p>
              <a:p>
                <a:pPr marL="0" lvl="0" indent="0" algn="l">
                  <a:lnSpc>
                    <a:spcPts val="6299"/>
                  </a:lnSpc>
                  <a:spcBef>
                    <a:spcPct val="0"/>
                  </a:spcBef>
                </a:pPr>
                <a:r>
                  <a:rPr lang="en-US" sz="4500" b="1" u="none" strike="noStrike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         TECHNOLOGY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786344" y="18472150"/>
              <a:ext cx="1870493" cy="1870493"/>
              <a:chOff x="266299" y="0"/>
              <a:chExt cx="812800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266299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BB1CF"/>
              </a:solidFill>
              <a:ln w="114300" cap="rnd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406E94">
                        <a:alpha val="100000"/>
                      </a:srgbClr>
                    </a:gs>
                  </a:gsLst>
                  <a:lin ang="0"/>
                </a:gra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Century Gothic" panose="020B0502020202020204" pitchFamily="34" charset="0"/>
                  <a:cs typeface="+mj-cs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342500" y="0"/>
                <a:ext cx="660400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6299"/>
                  </a:lnSpc>
                  <a:spcBef>
                    <a:spcPct val="0"/>
                  </a:spcBef>
                </a:pPr>
                <a:r>
                  <a:rPr lang="en-US" sz="4500" b="1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2</a:t>
                </a:r>
              </a:p>
            </p:txBody>
          </p:sp>
        </p:grpSp>
        <p:sp>
          <p:nvSpPr>
            <p:cNvPr id="57" name="Freeform 57"/>
            <p:cNvSpPr/>
            <p:nvPr/>
          </p:nvSpPr>
          <p:spPr>
            <a:xfrm>
              <a:off x="8699514" y="20870123"/>
              <a:ext cx="4787886" cy="7334686"/>
            </a:xfrm>
            <a:custGeom>
              <a:avLst/>
              <a:gdLst/>
              <a:ahLst/>
              <a:cxnLst/>
              <a:rect l="l" t="t" r="r" b="b"/>
              <a:pathLst>
                <a:path w="4787886" h="7334686">
                  <a:moveTo>
                    <a:pt x="0" y="0"/>
                  </a:moveTo>
                  <a:lnTo>
                    <a:pt x="4787885" y="0"/>
                  </a:lnTo>
                  <a:lnTo>
                    <a:pt x="4787885" y="7334686"/>
                  </a:lnTo>
                  <a:lnTo>
                    <a:pt x="0" y="7334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755" r="-11755"/>
              </a:stretch>
            </a:blipFill>
          </p:spPr>
          <p:txBody>
            <a:bodyPr/>
            <a:lstStyle/>
            <a:p>
              <a:endParaRPr lang="en-US" dirty="0">
                <a:latin typeface="Century Gothic" panose="020B0502020202020204" pitchFamily="34" charset="0"/>
                <a:cs typeface="+mj-cs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A5644F8-D315-5886-3E46-B3B50637D12D}"/>
              </a:ext>
            </a:extLst>
          </p:cNvPr>
          <p:cNvGrpSpPr/>
          <p:nvPr/>
        </p:nvGrpSpPr>
        <p:grpSpPr>
          <a:xfrm>
            <a:off x="14575002" y="9039573"/>
            <a:ext cx="13052988" cy="31682980"/>
            <a:chOff x="14575002" y="9087136"/>
            <a:chExt cx="13052988" cy="31682980"/>
          </a:xfrm>
        </p:grpSpPr>
        <p:grpSp>
          <p:nvGrpSpPr>
            <p:cNvPr id="9" name="Group 9"/>
            <p:cNvGrpSpPr/>
            <p:nvPr/>
          </p:nvGrpSpPr>
          <p:grpSpPr>
            <a:xfrm>
              <a:off x="14575002" y="10776489"/>
              <a:ext cx="12960000" cy="11231423"/>
              <a:chOff x="0" y="0"/>
              <a:chExt cx="1219200" cy="105658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219200" cy="1056586"/>
              </a:xfrm>
              <a:custGeom>
                <a:avLst/>
                <a:gdLst/>
                <a:ahLst/>
                <a:cxnLst/>
                <a:rect l="l" t="t" r="r" b="b"/>
                <a:pathLst>
                  <a:path w="1219200" h="1049178">
                    <a:moveTo>
                      <a:pt x="84827" y="0"/>
                    </a:moveTo>
                    <a:lnTo>
                      <a:pt x="1134373" y="0"/>
                    </a:lnTo>
                    <a:cubicBezTo>
                      <a:pt x="1181222" y="0"/>
                      <a:pt x="1219200" y="37978"/>
                      <a:pt x="1219200" y="84827"/>
                    </a:cubicBezTo>
                    <a:lnTo>
                      <a:pt x="1219200" y="964351"/>
                    </a:lnTo>
                    <a:cubicBezTo>
                      <a:pt x="1219200" y="986849"/>
                      <a:pt x="1210263" y="1008425"/>
                      <a:pt x="1194355" y="1024333"/>
                    </a:cubicBezTo>
                    <a:cubicBezTo>
                      <a:pt x="1178447" y="1040241"/>
                      <a:pt x="1156871" y="1049178"/>
                      <a:pt x="1134373" y="1049178"/>
                    </a:cubicBezTo>
                    <a:lnTo>
                      <a:pt x="84827" y="1049178"/>
                    </a:lnTo>
                    <a:cubicBezTo>
                      <a:pt x="37978" y="1049178"/>
                      <a:pt x="0" y="1011200"/>
                      <a:pt x="0" y="964351"/>
                    </a:cubicBezTo>
                    <a:lnTo>
                      <a:pt x="0" y="84827"/>
                    </a:lnTo>
                    <a:cubicBezTo>
                      <a:pt x="0" y="37978"/>
                      <a:pt x="37978" y="0"/>
                      <a:pt x="848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Century Gothic" panose="020B0502020202020204" pitchFamily="34" charset="0"/>
                  <a:cs typeface="+mj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4765" y="33236"/>
                <a:ext cx="1164282" cy="99222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377826" lvl="1">
                  <a:lnSpc>
                    <a:spcPts val="5250"/>
                  </a:lnSpc>
                </a:pPr>
                <a:endParaRPr lang="en-US" sz="3500" b="1" spc="17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"/>
                </a:endParaRPr>
              </a:p>
              <a:p>
                <a:pPr marL="377825" lvl="1" indent="-377825" algn="justLow">
                  <a:lnSpc>
                    <a:spcPts val="5250"/>
                  </a:lnSpc>
                  <a:buFont typeface="Arial"/>
                  <a:buChar char="•"/>
                  <a:tabLst>
                    <a:tab pos="12099925" algn="l"/>
                  </a:tabLst>
                </a:pPr>
                <a:r>
                  <a:rPr lang="en-US" sz="3600" b="1" spc="17" dirty="0">
                    <a:solidFill>
                      <a:schemeClr val="accent1">
                        <a:lumMod val="75000"/>
                      </a:schemeClr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Home Screen: </a:t>
                </a:r>
                <a:r>
                  <a:rPr lang="ar-SA" sz="3600" b="1" spc="17" dirty="0">
                    <a:solidFill>
                      <a:schemeClr val="accent1">
                        <a:lumMod val="75000"/>
                      </a:schemeClr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 </a:t>
                </a:r>
                <a:r>
                  <a:rPr lang="en-US" sz="3500" dirty="0">
                    <a:solidFill>
                      <a:schemeClr val="tx2">
                        <a:lumMod val="50000"/>
                      </a:schemeClr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Main screen showing the child’s health metrics (temperature, sleep, heart rate, oxygen)</a:t>
                </a:r>
                <a:endParaRPr lang="ar-SA" sz="3500" dirty="0">
                  <a:solidFill>
                    <a:schemeClr val="tx2">
                      <a:lumMod val="50000"/>
                    </a:schemeClr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"/>
                </a:endParaRPr>
              </a:p>
              <a:p>
                <a:pPr marL="377825" lvl="1" indent="-377825" algn="justLow">
                  <a:lnSpc>
                    <a:spcPts val="5250"/>
                  </a:lnSpc>
                  <a:buFont typeface="Arial"/>
                  <a:buChar char="•"/>
                  <a:tabLst>
                    <a:tab pos="12099925" algn="l"/>
                  </a:tabLst>
                </a:pPr>
                <a:r>
                  <a:rPr lang="en-US" sz="3600" b="1" spc="17" dirty="0">
                    <a:solidFill>
                      <a:schemeClr val="accent1">
                        <a:lumMod val="75000"/>
                      </a:schemeClr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Vaccination Screen</a:t>
                </a:r>
                <a:r>
                  <a:rPr lang="en-US" sz="3600" spc="17" dirty="0">
                    <a:solidFill>
                      <a:schemeClr val="accent1">
                        <a:lumMod val="75000"/>
                      </a:schemeClr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: </a:t>
                </a:r>
                <a:r>
                  <a:rPr lang="ar-SA" sz="3600" spc="17" dirty="0">
                    <a:solidFill>
                      <a:schemeClr val="accent1">
                        <a:lumMod val="75000"/>
                      </a:schemeClr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 </a:t>
                </a:r>
                <a:r>
                  <a:rPr lang="en-US" sz="3500" dirty="0">
                    <a:solidFill>
                      <a:schemeClr val="tx2">
                        <a:lumMod val="50000"/>
                      </a:schemeClr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Displays the child’s vaccination schedule, tracks progress, and sets reminders.</a:t>
                </a:r>
              </a:p>
              <a:p>
                <a:pPr marL="377825" lvl="1" indent="-377825" algn="justLow">
                  <a:lnSpc>
                    <a:spcPts val="5250"/>
                  </a:lnSpc>
                  <a:buFont typeface="Arial"/>
                  <a:buChar char="•"/>
                  <a:tabLst>
                    <a:tab pos="12099925" algn="l"/>
                  </a:tabLst>
                </a:pPr>
                <a:r>
                  <a:rPr lang="en-US" sz="3600" b="1" spc="17" dirty="0">
                    <a:solidFill>
                      <a:schemeClr val="accent1">
                        <a:lumMod val="75000"/>
                      </a:schemeClr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Growth Screen (AI Growth): </a:t>
                </a:r>
                <a:r>
                  <a:rPr lang="en-US" sz="3500" dirty="0">
                    <a:solidFill>
                      <a:schemeClr val="tx2">
                        <a:lumMod val="50000"/>
                      </a:schemeClr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Uses AI to show growth metrics (height, weight) in charts for monitoring.</a:t>
                </a:r>
              </a:p>
              <a:p>
                <a:pPr marL="377825" lvl="1" indent="-377825" algn="justLow">
                  <a:lnSpc>
                    <a:spcPts val="5250"/>
                  </a:lnSpc>
                  <a:buFont typeface="Arial"/>
                  <a:buChar char="•"/>
                  <a:tabLst>
                    <a:tab pos="12099925" algn="l"/>
                  </a:tabLst>
                </a:pPr>
                <a:r>
                  <a:rPr lang="en-US" sz="3600" b="1" spc="17" dirty="0">
                    <a:solidFill>
                      <a:schemeClr val="accent1">
                        <a:lumMod val="75000"/>
                      </a:schemeClr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Medicine Screen: </a:t>
                </a:r>
                <a:r>
                  <a:rPr lang="en-US" sz="3500" dirty="0">
                    <a:solidFill>
                      <a:schemeClr val="tx2">
                        <a:lumMod val="50000"/>
                      </a:schemeClr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Manages the child’s medication schedule with dosage and reminders.</a:t>
                </a:r>
              </a:p>
              <a:p>
                <a:pPr marL="377825" lvl="1" indent="-377825" algn="justLow">
                  <a:lnSpc>
                    <a:spcPts val="5250"/>
                  </a:lnSpc>
                  <a:buFont typeface="Arial"/>
                  <a:buChar char="•"/>
                  <a:tabLst>
                    <a:tab pos="12099925" algn="l"/>
                  </a:tabLst>
                </a:pPr>
                <a:r>
                  <a:rPr lang="en-US" sz="3600" b="1" spc="17" dirty="0">
                    <a:solidFill>
                      <a:schemeClr val="accent1">
                        <a:lumMod val="75000"/>
                      </a:schemeClr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Doctor Screen (Appointments): </a:t>
                </a:r>
                <a:r>
                  <a:rPr lang="en-US" sz="3500" dirty="0">
                    <a:solidFill>
                      <a:schemeClr val="tx2">
                        <a:lumMod val="50000"/>
                      </a:schemeClr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Lists upcoming doctor appointments and allows booking.</a:t>
                </a:r>
              </a:p>
              <a:p>
                <a:pPr marL="377825" lvl="1" indent="-377825" algn="justLow">
                  <a:lnSpc>
                    <a:spcPts val="5250"/>
                  </a:lnSpc>
                  <a:buFont typeface="Arial"/>
                  <a:buChar char="•"/>
                  <a:tabLst>
                    <a:tab pos="12099925" algn="l"/>
                  </a:tabLst>
                </a:pPr>
                <a:r>
                  <a:rPr lang="en-US" sz="3600" b="1" spc="17" dirty="0">
                    <a:solidFill>
                      <a:schemeClr val="accent1">
                        <a:lumMod val="75000"/>
                      </a:schemeClr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History Screen: </a:t>
                </a:r>
                <a:r>
                  <a:rPr lang="en-US" sz="3500" dirty="0">
                    <a:solidFill>
                      <a:schemeClr val="tx2">
                        <a:lumMod val="50000"/>
                      </a:schemeClr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Records past health data, vaccinations, and doctor visits.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6115699" y="9087136"/>
              <a:ext cx="10086939" cy="2568707"/>
              <a:chOff x="0" y="-76200"/>
              <a:chExt cx="948919" cy="24164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948266" cy="165449"/>
              </a:xfrm>
              <a:custGeom>
                <a:avLst/>
                <a:gdLst/>
                <a:ahLst/>
                <a:cxnLst/>
                <a:rect l="l" t="t" r="r" b="b"/>
                <a:pathLst>
                  <a:path w="948920" h="165449">
                    <a:moveTo>
                      <a:pt x="50656" y="0"/>
                    </a:moveTo>
                    <a:lnTo>
                      <a:pt x="898263" y="0"/>
                    </a:lnTo>
                    <a:cubicBezTo>
                      <a:pt x="911698" y="0"/>
                      <a:pt x="924583" y="5337"/>
                      <a:pt x="934083" y="14837"/>
                    </a:cubicBezTo>
                    <a:cubicBezTo>
                      <a:pt x="943583" y="24337"/>
                      <a:pt x="948920" y="37221"/>
                      <a:pt x="948920" y="50656"/>
                    </a:cubicBezTo>
                    <a:lnTo>
                      <a:pt x="948920" y="114793"/>
                    </a:lnTo>
                    <a:cubicBezTo>
                      <a:pt x="948920" y="128227"/>
                      <a:pt x="943583" y="141112"/>
                      <a:pt x="934083" y="150612"/>
                    </a:cubicBezTo>
                    <a:cubicBezTo>
                      <a:pt x="924583" y="160112"/>
                      <a:pt x="911698" y="165449"/>
                      <a:pt x="898263" y="165449"/>
                    </a:cubicBezTo>
                    <a:lnTo>
                      <a:pt x="50656" y="165449"/>
                    </a:lnTo>
                    <a:cubicBezTo>
                      <a:pt x="37221" y="165449"/>
                      <a:pt x="24337" y="160112"/>
                      <a:pt x="14837" y="150612"/>
                    </a:cubicBezTo>
                    <a:cubicBezTo>
                      <a:pt x="5337" y="141112"/>
                      <a:pt x="0" y="128227"/>
                      <a:pt x="0" y="114793"/>
                    </a:cubicBezTo>
                    <a:lnTo>
                      <a:pt x="0" y="50656"/>
                    </a:lnTo>
                    <a:cubicBezTo>
                      <a:pt x="0" y="37221"/>
                      <a:pt x="5337" y="24337"/>
                      <a:pt x="14837" y="14837"/>
                    </a:cubicBezTo>
                    <a:cubicBezTo>
                      <a:pt x="24337" y="5337"/>
                      <a:pt x="37221" y="0"/>
                      <a:pt x="50656" y="0"/>
                    </a:cubicBezTo>
                    <a:close/>
                  </a:path>
                </a:pathLst>
              </a:custGeom>
              <a:solidFill>
                <a:srgbClr val="9BB1CF"/>
              </a:solidFill>
              <a:ln w="114300" cap="rnd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406E94">
                        <a:alpha val="100000"/>
                      </a:srgbClr>
                    </a:gs>
                  </a:gsLst>
                  <a:lin ang="0"/>
                </a:gradFill>
                <a:prstDash val="dash"/>
                <a:round/>
              </a:ln>
            </p:spPr>
            <p:txBody>
              <a:bodyPr/>
              <a:lstStyle/>
              <a:p>
                <a:endParaRPr lang="en-US" dirty="0">
                  <a:latin typeface="Century Gothic" panose="020B0502020202020204" pitchFamily="34" charset="0"/>
                  <a:cs typeface="+mj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76200"/>
                <a:ext cx="948919" cy="2416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l">
                  <a:lnSpc>
                    <a:spcPts val="6299"/>
                  </a:lnSpc>
                  <a:spcBef>
                    <a:spcPct val="0"/>
                  </a:spcBef>
                </a:pPr>
                <a:endParaRPr lang="en-US" sz="4500" b="1" u="none" strike="noStrike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 Bold"/>
                </a:endParaRPr>
              </a:p>
              <a:p>
                <a:pPr marL="0" lvl="0" indent="0" algn="l">
                  <a:lnSpc>
                    <a:spcPts val="6299"/>
                  </a:lnSpc>
                  <a:spcBef>
                    <a:spcPct val="0"/>
                  </a:spcBef>
                </a:pPr>
                <a:r>
                  <a:rPr lang="en-US" sz="4500" b="1" u="none" strike="noStrike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        </a:t>
                </a:r>
                <a:r>
                  <a:rPr lang="en-US" sz="5400" b="1" u="none" strike="noStrike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RESULTS</a:t>
                </a:r>
                <a:endParaRPr lang="en-US" sz="4500" b="1" u="none" strike="noStrike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 Bold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5180452" y="9785350"/>
              <a:ext cx="1870493" cy="1870493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BB1CF"/>
              </a:solidFill>
              <a:ln w="114300" cap="rnd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406E94">
                        <a:alpha val="100000"/>
                      </a:srgbClr>
                    </a:gs>
                  </a:gsLst>
                  <a:lin ang="0"/>
                </a:gra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Century Gothic" panose="020B0502020202020204" pitchFamily="34" charset="0"/>
                  <a:cs typeface="+mj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8988" y="44519"/>
                <a:ext cx="660400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6299"/>
                  </a:lnSpc>
                  <a:spcBef>
                    <a:spcPct val="0"/>
                  </a:spcBef>
                </a:pPr>
                <a:r>
                  <a:rPr lang="en-US" sz="5400" b="1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4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4575002" y="23323604"/>
              <a:ext cx="12960000" cy="10613796"/>
              <a:chOff x="0" y="-51648"/>
              <a:chExt cx="1219200" cy="99848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-2153"/>
                <a:ext cx="1219200" cy="948988"/>
              </a:xfrm>
              <a:custGeom>
                <a:avLst/>
                <a:gdLst/>
                <a:ahLst/>
                <a:cxnLst/>
                <a:rect l="l" t="t" r="r" b="b"/>
                <a:pathLst>
                  <a:path w="1219200" h="896971">
                    <a:moveTo>
                      <a:pt x="84827" y="0"/>
                    </a:moveTo>
                    <a:lnTo>
                      <a:pt x="1134373" y="0"/>
                    </a:lnTo>
                    <a:cubicBezTo>
                      <a:pt x="1181222" y="0"/>
                      <a:pt x="1219200" y="37978"/>
                      <a:pt x="1219200" y="84827"/>
                    </a:cubicBezTo>
                    <a:lnTo>
                      <a:pt x="1219200" y="812144"/>
                    </a:lnTo>
                    <a:cubicBezTo>
                      <a:pt x="1219200" y="858993"/>
                      <a:pt x="1181222" y="896971"/>
                      <a:pt x="1134373" y="896971"/>
                    </a:cubicBezTo>
                    <a:lnTo>
                      <a:pt x="84827" y="896971"/>
                    </a:lnTo>
                    <a:cubicBezTo>
                      <a:pt x="37978" y="896971"/>
                      <a:pt x="0" y="858993"/>
                      <a:pt x="0" y="812144"/>
                    </a:cubicBezTo>
                    <a:lnTo>
                      <a:pt x="0" y="84827"/>
                    </a:lnTo>
                    <a:cubicBezTo>
                      <a:pt x="0" y="37978"/>
                      <a:pt x="37978" y="0"/>
                      <a:pt x="848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Century Gothic" panose="020B0502020202020204" pitchFamily="34" charset="0"/>
                  <a:cs typeface="+mj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2220" y="-51648"/>
                <a:ext cx="1096771" cy="99222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just">
                  <a:lnSpc>
                    <a:spcPts val="5250"/>
                  </a:lnSpc>
                </a:pPr>
                <a:endParaRPr lang="en-US" sz="3500" spc="17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"/>
                </a:endParaRPr>
              </a:p>
              <a:p>
                <a:pPr algn="just">
                  <a:lnSpc>
                    <a:spcPts val="5250"/>
                  </a:lnSpc>
                </a:pPr>
                <a:endParaRPr lang="en-US" sz="3500" spc="17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"/>
                </a:endParaRPr>
              </a:p>
              <a:p>
                <a:pPr algn="just">
                  <a:lnSpc>
                    <a:spcPts val="5250"/>
                  </a:lnSpc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The application enables parents to monitor their children's vital signs in real time and manage vaccinations, growth tracking, and medication schedules.</a:t>
                </a:r>
              </a:p>
              <a:p>
                <a:pPr algn="just">
                  <a:lnSpc>
                    <a:spcPts val="5250"/>
                  </a:lnSpc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 It provides a complete medical history for each child, helping doctors offer faster and more accurate care.</a:t>
                </a:r>
              </a:p>
              <a:p>
                <a:pPr algn="just">
                  <a:lnSpc>
                    <a:spcPts val="5250"/>
                  </a:lnSpc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 Parents can easily book appointments with doctors through the app, ensuring timely medical consultations when needed.</a:t>
                </a:r>
              </a:p>
              <a:p>
                <a:pPr algn="just">
                  <a:lnSpc>
                    <a:spcPts val="5250"/>
                  </a:lnSpc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 The project aims to create a smarter healthcare system that supports children's health and improves their quality of life.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6251456" y="22183266"/>
              <a:ext cx="10086938" cy="2568707"/>
              <a:chOff x="-15735" y="-76200"/>
              <a:chExt cx="948919" cy="241649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-15735" y="0"/>
                <a:ext cx="948266" cy="165449"/>
              </a:xfrm>
              <a:custGeom>
                <a:avLst/>
                <a:gdLst/>
                <a:ahLst/>
                <a:cxnLst/>
                <a:rect l="l" t="t" r="r" b="b"/>
                <a:pathLst>
                  <a:path w="948920" h="165449">
                    <a:moveTo>
                      <a:pt x="50656" y="0"/>
                    </a:moveTo>
                    <a:lnTo>
                      <a:pt x="898263" y="0"/>
                    </a:lnTo>
                    <a:cubicBezTo>
                      <a:pt x="911698" y="0"/>
                      <a:pt x="924583" y="5337"/>
                      <a:pt x="934083" y="14837"/>
                    </a:cubicBezTo>
                    <a:cubicBezTo>
                      <a:pt x="943583" y="24337"/>
                      <a:pt x="948920" y="37221"/>
                      <a:pt x="948920" y="50656"/>
                    </a:cubicBezTo>
                    <a:lnTo>
                      <a:pt x="948920" y="114793"/>
                    </a:lnTo>
                    <a:cubicBezTo>
                      <a:pt x="948920" y="128227"/>
                      <a:pt x="943583" y="141112"/>
                      <a:pt x="934083" y="150612"/>
                    </a:cubicBezTo>
                    <a:cubicBezTo>
                      <a:pt x="924583" y="160112"/>
                      <a:pt x="911698" y="165449"/>
                      <a:pt x="898263" y="165449"/>
                    </a:cubicBezTo>
                    <a:lnTo>
                      <a:pt x="50656" y="165449"/>
                    </a:lnTo>
                    <a:cubicBezTo>
                      <a:pt x="37221" y="165449"/>
                      <a:pt x="24337" y="160112"/>
                      <a:pt x="14837" y="150612"/>
                    </a:cubicBezTo>
                    <a:cubicBezTo>
                      <a:pt x="5337" y="141112"/>
                      <a:pt x="0" y="128227"/>
                      <a:pt x="0" y="114793"/>
                    </a:cubicBezTo>
                    <a:lnTo>
                      <a:pt x="0" y="50656"/>
                    </a:lnTo>
                    <a:cubicBezTo>
                      <a:pt x="0" y="37221"/>
                      <a:pt x="5337" y="24337"/>
                      <a:pt x="14837" y="14837"/>
                    </a:cubicBezTo>
                    <a:cubicBezTo>
                      <a:pt x="24337" y="5337"/>
                      <a:pt x="37221" y="0"/>
                      <a:pt x="50656" y="0"/>
                    </a:cubicBezTo>
                    <a:close/>
                  </a:path>
                </a:pathLst>
              </a:custGeom>
              <a:solidFill>
                <a:srgbClr val="9BB1CF"/>
              </a:solidFill>
              <a:ln w="114300" cap="rnd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406E94">
                        <a:alpha val="100000"/>
                      </a:srgbClr>
                    </a:gs>
                  </a:gsLst>
                  <a:lin ang="0"/>
                </a:gra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Century Gothic" panose="020B0502020202020204" pitchFamily="34" charset="0"/>
                  <a:cs typeface="+mj-cs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-15735" y="-76200"/>
                <a:ext cx="948919" cy="2416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l">
                  <a:lnSpc>
                    <a:spcPts val="6299"/>
                  </a:lnSpc>
                  <a:spcBef>
                    <a:spcPct val="0"/>
                  </a:spcBef>
                </a:pPr>
                <a:r>
                  <a:rPr lang="en-US" sz="4500" b="1" u="none" strike="noStrike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       </a:t>
                </a:r>
              </a:p>
              <a:p>
                <a:pPr marL="0" lvl="0" indent="0" algn="l">
                  <a:lnSpc>
                    <a:spcPts val="6299"/>
                  </a:lnSpc>
                  <a:spcBef>
                    <a:spcPct val="0"/>
                  </a:spcBef>
                </a:pPr>
                <a:r>
                  <a:rPr lang="en-US" sz="4500" b="1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        </a:t>
                </a:r>
                <a:r>
                  <a:rPr lang="en-US" sz="4500" b="1" u="none" strike="noStrike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CONCLUSION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15316201" y="22881480"/>
              <a:ext cx="1870493" cy="1870493"/>
              <a:chOff x="-72686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-72686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BB1CF"/>
              </a:solidFill>
              <a:ln w="114300" cap="rnd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406E94">
                        <a:alpha val="100000"/>
                      </a:srgbClr>
                    </a:gs>
                  </a:gsLst>
                  <a:lin ang="0"/>
                </a:gradFill>
                <a:prstDash val="dash"/>
                <a:round/>
              </a:ln>
            </p:spPr>
            <p:txBody>
              <a:bodyPr/>
              <a:lstStyle/>
              <a:p>
                <a:endParaRPr lang="en-US" dirty="0">
                  <a:latin typeface="Century Gothic" panose="020B0502020202020204" pitchFamily="34" charset="0"/>
                  <a:cs typeface="+mj-cs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515" y="0"/>
                <a:ext cx="660400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6299"/>
                  </a:lnSpc>
                  <a:spcBef>
                    <a:spcPct val="0"/>
                  </a:spcBef>
                </a:pPr>
                <a:r>
                  <a:rPr lang="en-US" sz="4500" b="1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5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14667990" y="34605689"/>
              <a:ext cx="12960000" cy="6164427"/>
              <a:chOff x="0" y="-52239"/>
              <a:chExt cx="1219200" cy="57991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43011"/>
                <a:ext cx="1219200" cy="484663"/>
              </a:xfrm>
              <a:custGeom>
                <a:avLst/>
                <a:gdLst/>
                <a:ahLst/>
                <a:cxnLst/>
                <a:rect l="l" t="t" r="r" b="b"/>
                <a:pathLst>
                  <a:path w="1219200" h="484663">
                    <a:moveTo>
                      <a:pt x="84827" y="0"/>
                    </a:moveTo>
                    <a:lnTo>
                      <a:pt x="1134373" y="0"/>
                    </a:lnTo>
                    <a:cubicBezTo>
                      <a:pt x="1181222" y="0"/>
                      <a:pt x="1219200" y="37978"/>
                      <a:pt x="1219200" y="84827"/>
                    </a:cubicBezTo>
                    <a:lnTo>
                      <a:pt x="1219200" y="399836"/>
                    </a:lnTo>
                    <a:cubicBezTo>
                      <a:pt x="1219200" y="446685"/>
                      <a:pt x="1181222" y="484663"/>
                      <a:pt x="1134373" y="484663"/>
                    </a:cubicBezTo>
                    <a:lnTo>
                      <a:pt x="84827" y="484663"/>
                    </a:lnTo>
                    <a:cubicBezTo>
                      <a:pt x="37978" y="484663"/>
                      <a:pt x="0" y="446685"/>
                      <a:pt x="0" y="399836"/>
                    </a:cubicBezTo>
                    <a:lnTo>
                      <a:pt x="0" y="84827"/>
                    </a:lnTo>
                    <a:cubicBezTo>
                      <a:pt x="0" y="37978"/>
                      <a:pt x="37978" y="0"/>
                      <a:pt x="848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Century Gothic" panose="020B0502020202020204" pitchFamily="34" charset="0"/>
                  <a:cs typeface="+mj-cs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52239"/>
                <a:ext cx="1219200" cy="579913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5250"/>
                  </a:lnSpc>
                </a:pPr>
                <a:endParaRPr dirty="0">
                  <a:latin typeface="Century Gothic" panose="020B0502020202020204" pitchFamily="34" charset="0"/>
                  <a:cs typeface="+mj-cs"/>
                </a:endParaRPr>
              </a:p>
              <a:p>
                <a:pPr algn="l">
                  <a:lnSpc>
                    <a:spcPts val="5250"/>
                  </a:lnSpc>
                </a:pPr>
                <a:r>
                  <a:rPr lang="en-US" sz="3500" b="1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  </a:t>
                </a:r>
              </a:p>
              <a:p>
                <a:pPr algn="l">
                  <a:lnSpc>
                    <a:spcPts val="5250"/>
                  </a:lnSpc>
                </a:pPr>
                <a:endParaRPr lang="en-US" sz="3500" b="1" spc="17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 Bold"/>
                </a:endParaRPr>
              </a:p>
              <a:p>
                <a:pPr algn="l">
                  <a:lnSpc>
                    <a:spcPts val="5250"/>
                  </a:lnSpc>
                </a:pPr>
                <a:r>
                  <a:rPr lang="en-US" sz="3500" b="1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  </a:t>
                </a:r>
                <a:r>
                  <a:rPr lang="en-US" sz="3500" b="1" spc="17" dirty="0" err="1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Supervisor:Dr.Ahmed</a:t>
                </a:r>
                <a:r>
                  <a:rPr lang="en-US" sz="3500" b="1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 Hosny Eid</a:t>
                </a:r>
              </a:p>
              <a:p>
                <a:pPr algn="l">
                  <a:lnSpc>
                    <a:spcPts val="5250"/>
                  </a:lnSpc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  </a:t>
                </a:r>
                <a:r>
                  <a:rPr lang="en-US" sz="3500" b="1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Arwa Ahmed Desouki</a:t>
                </a:r>
              </a:p>
              <a:p>
                <a:pPr algn="l">
                  <a:lnSpc>
                    <a:spcPts val="5250"/>
                  </a:lnSpc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  </a:t>
                </a:r>
                <a:r>
                  <a:rPr lang="en-US" sz="3500" b="1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Osama Mohamed Gharib</a:t>
                </a:r>
              </a:p>
              <a:p>
                <a:pPr algn="l">
                  <a:lnSpc>
                    <a:spcPts val="5250"/>
                  </a:lnSpc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  </a:t>
                </a:r>
                <a:r>
                  <a:rPr lang="en-US" sz="3500" b="1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Islam Hasib Thabet</a:t>
                </a:r>
              </a:p>
              <a:p>
                <a:pPr algn="l">
                  <a:lnSpc>
                    <a:spcPts val="5250"/>
                  </a:lnSpc>
                </a:pPr>
                <a:r>
                  <a:rPr lang="en-US" sz="3500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"/>
                  </a:rPr>
                  <a:t>  </a:t>
                </a:r>
                <a:r>
                  <a:rPr lang="en-US" sz="3500" b="1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Obeid Allam</a:t>
                </a:r>
              </a:p>
              <a:p>
                <a:pPr algn="l">
                  <a:lnSpc>
                    <a:spcPts val="5250"/>
                  </a:lnSpc>
                </a:pPr>
                <a:r>
                  <a:rPr lang="en-US" sz="3500" b="1" spc="17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  Hassan Hossam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16327648" y="33928836"/>
              <a:ext cx="10086938" cy="2568707"/>
              <a:chOff x="54026" y="-33189"/>
              <a:chExt cx="948919" cy="241649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54026" y="43011"/>
                <a:ext cx="948266" cy="165449"/>
              </a:xfrm>
              <a:custGeom>
                <a:avLst/>
                <a:gdLst/>
                <a:ahLst/>
                <a:cxnLst/>
                <a:rect l="l" t="t" r="r" b="b"/>
                <a:pathLst>
                  <a:path w="948920" h="165449">
                    <a:moveTo>
                      <a:pt x="50656" y="0"/>
                    </a:moveTo>
                    <a:lnTo>
                      <a:pt x="898263" y="0"/>
                    </a:lnTo>
                    <a:cubicBezTo>
                      <a:pt x="911698" y="0"/>
                      <a:pt x="924583" y="5337"/>
                      <a:pt x="934083" y="14837"/>
                    </a:cubicBezTo>
                    <a:cubicBezTo>
                      <a:pt x="943583" y="24337"/>
                      <a:pt x="948920" y="37221"/>
                      <a:pt x="948920" y="50656"/>
                    </a:cubicBezTo>
                    <a:lnTo>
                      <a:pt x="948920" y="114793"/>
                    </a:lnTo>
                    <a:cubicBezTo>
                      <a:pt x="948920" y="128227"/>
                      <a:pt x="943583" y="141112"/>
                      <a:pt x="934083" y="150612"/>
                    </a:cubicBezTo>
                    <a:cubicBezTo>
                      <a:pt x="924583" y="160112"/>
                      <a:pt x="911698" y="165449"/>
                      <a:pt x="898263" y="165449"/>
                    </a:cubicBezTo>
                    <a:lnTo>
                      <a:pt x="50656" y="165449"/>
                    </a:lnTo>
                    <a:cubicBezTo>
                      <a:pt x="37221" y="165449"/>
                      <a:pt x="24337" y="160112"/>
                      <a:pt x="14837" y="150612"/>
                    </a:cubicBezTo>
                    <a:cubicBezTo>
                      <a:pt x="5337" y="141112"/>
                      <a:pt x="0" y="128227"/>
                      <a:pt x="0" y="114793"/>
                    </a:cubicBezTo>
                    <a:lnTo>
                      <a:pt x="0" y="50656"/>
                    </a:lnTo>
                    <a:cubicBezTo>
                      <a:pt x="0" y="37221"/>
                      <a:pt x="5337" y="24337"/>
                      <a:pt x="14837" y="14837"/>
                    </a:cubicBezTo>
                    <a:cubicBezTo>
                      <a:pt x="24337" y="5337"/>
                      <a:pt x="37221" y="0"/>
                      <a:pt x="50656" y="0"/>
                    </a:cubicBezTo>
                    <a:close/>
                  </a:path>
                </a:pathLst>
              </a:custGeom>
              <a:solidFill>
                <a:srgbClr val="9BB1CF"/>
              </a:solidFill>
              <a:ln w="114300" cap="rnd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406E94">
                        <a:alpha val="100000"/>
                      </a:srgbClr>
                    </a:gs>
                  </a:gsLst>
                  <a:lin ang="0"/>
                </a:gra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Century Gothic" panose="020B0502020202020204" pitchFamily="34" charset="0"/>
                  <a:cs typeface="+mj-cs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54026" y="-33189"/>
                <a:ext cx="948919" cy="2416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l">
                  <a:lnSpc>
                    <a:spcPts val="6299"/>
                  </a:lnSpc>
                  <a:spcBef>
                    <a:spcPct val="0"/>
                  </a:spcBef>
                </a:pPr>
                <a:endParaRPr lang="en-US" sz="4500" b="1" u="none" strike="noStrike" dirty="0">
                  <a:solidFill>
                    <a:srgbClr val="000000"/>
                  </a:solidFill>
                  <a:latin typeface="Century Gothic" panose="020B0502020202020204" pitchFamily="34" charset="0"/>
                  <a:ea typeface="ADLaM Display" panose="020F0502020204030204" pitchFamily="2" charset="0"/>
                  <a:cs typeface="+mj-cs"/>
                  <a:sym typeface="Canva Sans Bold"/>
                </a:endParaRPr>
              </a:p>
              <a:p>
                <a:pPr marL="0" lvl="0" indent="0" algn="l">
                  <a:lnSpc>
                    <a:spcPts val="6299"/>
                  </a:lnSpc>
                  <a:spcBef>
                    <a:spcPct val="0"/>
                  </a:spcBef>
                </a:pPr>
                <a:r>
                  <a:rPr lang="en-US" sz="4500" b="1" u="none" strike="noStrike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        Project Team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15392413" y="34627056"/>
              <a:ext cx="1870493" cy="1870493"/>
              <a:chOff x="249556" y="198675"/>
              <a:chExt cx="812800" cy="8128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249556" y="198675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BB1CF"/>
              </a:solidFill>
              <a:ln w="114300" cap="rnd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406E94">
                        <a:alpha val="100000"/>
                      </a:srgbClr>
                    </a:gs>
                  </a:gsLst>
                  <a:lin ang="0"/>
                </a:gradFill>
                <a:prstDash val="dash"/>
                <a:round/>
              </a:ln>
            </p:spPr>
            <p:txBody>
              <a:bodyPr/>
              <a:lstStyle/>
              <a:p>
                <a:endParaRPr lang="en-US" dirty="0">
                  <a:latin typeface="Century Gothic" panose="020B0502020202020204" pitchFamily="34" charset="0"/>
                  <a:cs typeface="+mj-cs"/>
                </a:endParaRP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325757" y="198675"/>
                <a:ext cx="660400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6299"/>
                  </a:lnSpc>
                  <a:spcBef>
                    <a:spcPct val="0"/>
                  </a:spcBef>
                </a:pPr>
                <a:r>
                  <a:rPr lang="en-US" sz="4500" b="1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ADLaM Display" panose="020F0502020204030204" pitchFamily="2" charset="0"/>
                    <a:cs typeface="+mj-cs"/>
                    <a:sym typeface="Canva Sans Bold"/>
                  </a:rPr>
                  <a:t>6</a:t>
                </a:r>
              </a:p>
            </p:txBody>
          </p:sp>
        </p:grpSp>
      </p:grpSp>
      <p:sp>
        <p:nvSpPr>
          <p:cNvPr id="67" name="Freeform 67"/>
          <p:cNvSpPr/>
          <p:nvPr/>
        </p:nvSpPr>
        <p:spPr>
          <a:xfrm>
            <a:off x="14846877" y="3820031"/>
            <a:ext cx="2306043" cy="3107182"/>
          </a:xfrm>
          <a:custGeom>
            <a:avLst/>
            <a:gdLst/>
            <a:ahLst/>
            <a:cxnLst/>
            <a:rect l="l" t="t" r="r" b="b"/>
            <a:pathLst>
              <a:path w="3934235" h="3904729">
                <a:moveTo>
                  <a:pt x="0" y="0"/>
                </a:moveTo>
                <a:lnTo>
                  <a:pt x="3934235" y="0"/>
                </a:lnTo>
                <a:lnTo>
                  <a:pt x="3934235" y="3904729"/>
                </a:lnTo>
                <a:lnTo>
                  <a:pt x="0" y="39047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556" t="-15557" r="-30048" b="-10111"/>
            </a:stretch>
          </a:blipFill>
        </p:spPr>
        <p:txBody>
          <a:bodyPr/>
          <a:lstStyle/>
          <a:p>
            <a:endParaRPr lang="en-US">
              <a:latin typeface="Century Gothic" panose="020B0502020202020204" pitchFamily="34" charset="0"/>
              <a:cs typeface="+mj-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465666" y="1413815"/>
            <a:ext cx="3039534" cy="3029823"/>
          </a:xfrm>
          <a:custGeom>
            <a:avLst/>
            <a:gdLst/>
            <a:ahLst/>
            <a:cxnLst/>
            <a:rect l="l" t="t" r="r" b="b"/>
            <a:pathLst>
              <a:path w="3039534" h="3029823">
                <a:moveTo>
                  <a:pt x="0" y="0"/>
                </a:moveTo>
                <a:lnTo>
                  <a:pt x="3039534" y="0"/>
                </a:lnTo>
                <a:lnTo>
                  <a:pt x="3039534" y="3029824"/>
                </a:lnTo>
                <a:lnTo>
                  <a:pt x="0" y="30298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>
              <a:latin typeface="Century Gothic" panose="020B0502020202020204" pitchFamily="34" charset="0"/>
              <a:cs typeface="+mj-cs"/>
            </a:endParaRPr>
          </a:p>
        </p:txBody>
      </p:sp>
      <p:pic>
        <p:nvPicPr>
          <p:cNvPr id="69" name="Picture 68" descr="A blue sphere with white wires connected to it&#10;&#10;AI-generated content may be incorrect.">
            <a:extLst>
              <a:ext uri="{FF2B5EF4-FFF2-40B4-BE49-F238E27FC236}">
                <a16:creationId xmlns:a16="http://schemas.microsoft.com/office/drawing/2014/main" id="{E02BE983-620A-396A-2800-91CCC3D1FE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405" y="29306644"/>
            <a:ext cx="2516913" cy="1870493"/>
          </a:xfrm>
          <a:prstGeom prst="rect">
            <a:avLst/>
          </a:prstGeom>
        </p:spPr>
      </p:pic>
      <p:pic>
        <p:nvPicPr>
          <p:cNvPr id="71" name="Picture 70" descr="A blue circle with black symbols&#10;&#10;AI-generated content may be incorrect.">
            <a:extLst>
              <a:ext uri="{FF2B5EF4-FFF2-40B4-BE49-F238E27FC236}">
                <a16:creationId xmlns:a16="http://schemas.microsoft.com/office/drawing/2014/main" id="{9EAEBF4F-1D48-F2FD-AA56-96DF787416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3645" y="29397666"/>
            <a:ext cx="2619375" cy="1743075"/>
          </a:xfrm>
          <a:prstGeom prst="rect">
            <a:avLst/>
          </a:prstGeom>
        </p:spPr>
      </p:pic>
      <p:sp>
        <p:nvSpPr>
          <p:cNvPr id="25" name="Freeform 25"/>
          <p:cNvSpPr/>
          <p:nvPr/>
        </p:nvSpPr>
        <p:spPr>
          <a:xfrm>
            <a:off x="22333555" y="2312634"/>
            <a:ext cx="4983820" cy="9348887"/>
          </a:xfrm>
          <a:custGeom>
            <a:avLst/>
            <a:gdLst/>
            <a:ahLst/>
            <a:cxnLst/>
            <a:rect l="l" t="t" r="r" b="b"/>
            <a:pathLst>
              <a:path w="6211788" h="10522719">
                <a:moveTo>
                  <a:pt x="0" y="0"/>
                </a:moveTo>
                <a:lnTo>
                  <a:pt x="6211788" y="0"/>
                </a:lnTo>
                <a:lnTo>
                  <a:pt x="6211788" y="10522719"/>
                </a:lnTo>
                <a:lnTo>
                  <a:pt x="0" y="105227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8955" t="-15074" r="-47151" b="-15603"/>
            </a:stretch>
          </a:blipFill>
        </p:spPr>
        <p:txBody>
          <a:bodyPr/>
          <a:lstStyle/>
          <a:p>
            <a:endParaRPr lang="en-US">
              <a:latin typeface="Century Gothic" panose="020B0502020202020204" pitchFamily="34" charset="0"/>
              <a:cs typeface="+mj-cs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tretch>
            <a:fillRect l="-48955" t="-15074" r="-47151" b="-15603"/>
          </a:stretch>
        </a:blipFill>
      </a:spPr>
      <a:bodyPr/>
      <a:lstStyle>
        <a:defPPr algn="l">
          <a:defRPr/>
        </a:defPPr>
      </a:lst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390</Words>
  <Application>Microsoft Office PowerPoint</Application>
  <PresentationFormat>Custom</PresentationFormat>
  <Paragraphs>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Century Gothic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SmartBrace: AI-Powered Health Monitoring App &amp;Bracelet &amp; Web Platform Computer and Control EngneeringDepartment,Faculty of Engneering, PortsaidUniversity,Portsaid,Egypt</dc:title>
  <cp:lastModifiedBy>arwa desouki</cp:lastModifiedBy>
  <cp:revision>11</cp:revision>
  <dcterms:created xsi:type="dcterms:W3CDTF">2006-08-16T00:00:00Z</dcterms:created>
  <dcterms:modified xsi:type="dcterms:W3CDTF">2025-05-05T03:21:48Z</dcterms:modified>
  <dc:identifier>DAGl71fHjGc</dc:identifier>
</cp:coreProperties>
</file>